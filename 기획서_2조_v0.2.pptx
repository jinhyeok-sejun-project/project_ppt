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8"/>
  </p:notesMasterIdLst>
  <p:sldIdLst>
    <p:sldId id="271" r:id="rId2"/>
    <p:sldId id="258" r:id="rId3"/>
    <p:sldId id="273" r:id="rId4"/>
    <p:sldId id="266" r:id="rId5"/>
    <p:sldId id="267" r:id="rId6"/>
    <p:sldId id="261" r:id="rId7"/>
  </p:sldIdLst>
  <p:sldSz cx="9144000" cy="5143500" type="screen16x9"/>
  <p:notesSz cx="6858000" cy="9144000"/>
  <p:embeddedFontLst>
    <p:embeddedFont>
      <p:font typeface="Noto Sans KR Black" panose="020B0200000000000000" pitchFamily="50" charset="-127"/>
      <p:bold r:id="rId9"/>
    </p:embeddedFont>
    <p:embeddedFont>
      <p:font typeface="Noto Sans KR Medium" panose="020B0200000000000000" pitchFamily="50" charset="-127"/>
      <p:regular r:id="rId10"/>
    </p:embeddedFont>
    <p:embeddedFont>
      <p:font typeface="맑은 고딕" panose="020B0503020000020004" pitchFamily="50" charset="-127"/>
      <p:regular r:id="rId11"/>
      <p:bold r:id="rId1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6977"/>
    <a:srgbClr val="384653"/>
    <a:srgbClr val="C7E0E7"/>
    <a:srgbClr val="325F7B"/>
    <a:srgbClr val="F3F3F3"/>
    <a:srgbClr val="565D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C5DA38-F707-4794-8A88-0398D95956EF}">
  <a:tblStyle styleId="{C6C5DA38-F707-4794-8A88-0398D95956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97D6581-0525-484B-A2CC-11615709EF0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611" autoAdjust="0"/>
  </p:normalViewPr>
  <p:slideViewPr>
    <p:cSldViewPr snapToGrid="0">
      <p:cViewPr varScale="1">
        <p:scale>
          <a:sx n="101" d="100"/>
          <a:sy n="101" d="100"/>
        </p:scale>
        <p:origin x="92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AB07E-5358-E0F9-76C2-662822546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A337E1-0902-93CA-7E64-04FE077B0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04E047-D7B3-9670-E967-00CFD6446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★☆★☆★☆★☆★☆★☆★☆★☆★☆</a:t>
            </a:r>
            <a:r>
              <a:rPr lang="en-US" altLang="ko-KR" dirty="0"/>
              <a:t>&gt;&gt;&gt;&gt;</a:t>
            </a:r>
            <a:r>
              <a:rPr lang="ko-KR" altLang="en-US" dirty="0"/>
              <a:t>여기다가 적어줘</a:t>
            </a:r>
            <a:r>
              <a:rPr lang="en-US" altLang="ko-KR" dirty="0"/>
              <a:t>&lt;&lt;&lt;&lt;&lt;</a:t>
            </a:r>
            <a:r>
              <a:rPr lang="ko-KR" altLang="en-US" dirty="0"/>
              <a:t>★☆★☆★☆★☆★☆★☆★☆★☆★☆★☆★☆★☆★☆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95003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ko-KR" altLang="en-US" dirty="0"/>
              <a:t>★☆★☆★☆★☆★☆★☆★☆★☆★☆</a:t>
            </a:r>
            <a:r>
              <a:rPr lang="en-US" altLang="ko-KR" dirty="0"/>
              <a:t>&gt;&gt;&gt;&gt;</a:t>
            </a:r>
            <a:r>
              <a:rPr lang="ko-KR" altLang="en-US" dirty="0"/>
              <a:t>여기다가 적어줘</a:t>
            </a:r>
            <a:r>
              <a:rPr lang="en-US" altLang="ko-KR" dirty="0"/>
              <a:t>&lt;&lt;&lt;&lt;&lt;</a:t>
            </a:r>
            <a:r>
              <a:rPr lang="ko-KR" altLang="en-US" dirty="0"/>
              <a:t>★☆★☆★☆★☆★☆★☆★☆★☆★☆★☆★☆★☆★☆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3096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A7DBD-F669-AF9B-4CD6-2EFFE19F0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B84201-B9D1-C6E6-3204-DA49D2B4F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C6731B-4D69-48A6-97C7-A2A7B1310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en-US" dirty="0"/>
              <a:t>기사 출처 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https://futurechosun.com/archives/73017?</a:t>
            </a:r>
          </a:p>
          <a:p>
            <a:r>
              <a:rPr lang="en-US" altLang="ko-KR" dirty="0"/>
              <a:t>https://www.seoul.co.kr/news/society/education-news/2022/01/28/20220128500213?</a:t>
            </a:r>
          </a:p>
          <a:p>
            <a:r>
              <a:rPr lang="en-US" altLang="ko-KR" dirty="0"/>
              <a:t>https://www.korea.kr/briefing/policyBriefingView.do?newsId=156620748&amp;utm_</a:t>
            </a:r>
          </a:p>
          <a:p>
            <a:endParaRPr lang="en-US" altLang="ko-KR" dirty="0"/>
          </a:p>
          <a:p>
            <a:r>
              <a:rPr lang="ko-KR" altLang="en-US" dirty="0"/>
              <a:t>다문화가정이 빠르게 늘어나면서 사회적 문제도 함께 드러나고 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특히 베트남계 가정의 높은 이혼율은 대표적인 사례로 지적된다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8478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5B05B-58C6-D240-18BA-23D06EA3E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15589C-38DF-5B56-0037-F5BC31FC4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21BCD9-6F0F-4675-F178-856A6B00E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차때는 다문화 자녀 언어</a:t>
            </a:r>
            <a:r>
              <a:rPr lang="en-US" altLang="ko-KR" dirty="0"/>
              <a:t>/</a:t>
            </a:r>
            <a:r>
              <a:rPr lang="ko-KR" altLang="en-US" dirty="0"/>
              <a:t>문화 적응 도우미로 연계</a:t>
            </a:r>
            <a:endParaRPr lang="en-US" altLang="ko-KR" dirty="0"/>
          </a:p>
          <a:p>
            <a:r>
              <a:rPr lang="en-US" altLang="ko-KR" dirty="0"/>
              <a:t>&gt;&gt;</a:t>
            </a:r>
            <a:r>
              <a:rPr lang="ko-KR" altLang="en-US" dirty="0"/>
              <a:t>화살표 밝게 하고 글씨 삽입</a:t>
            </a:r>
            <a:endParaRPr lang="en-US" altLang="ko-KR" dirty="0"/>
          </a:p>
          <a:p>
            <a:r>
              <a:rPr lang="ko-KR" altLang="en-US" dirty="0"/>
              <a:t>자료 만들면서 평가자가 이 자료를 보면 </a:t>
            </a:r>
            <a:r>
              <a:rPr lang="ko-KR" altLang="en-US" dirty="0" err="1"/>
              <a:t>무슨생각을</a:t>
            </a:r>
            <a:r>
              <a:rPr lang="ko-KR" altLang="en-US" dirty="0"/>
              <a:t> 할까</a:t>
            </a:r>
            <a:r>
              <a:rPr lang="en-US" altLang="ko-KR" dirty="0"/>
              <a:t>? </a:t>
            </a:r>
            <a:r>
              <a:rPr lang="ko-KR" altLang="en-US" dirty="0"/>
              <a:t>라는 생각하면서 만들기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68040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2E374-A5E0-3B81-CAEB-921077131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059AFF-9D72-EFA7-B5D9-97DABA7B1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04871C-E288-FB56-370A-71637DB6E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차때는 다문화 자녀 언어</a:t>
            </a:r>
            <a:r>
              <a:rPr lang="en-US" altLang="ko-KR" dirty="0"/>
              <a:t>/</a:t>
            </a:r>
            <a:r>
              <a:rPr lang="ko-KR" altLang="en-US" dirty="0"/>
              <a:t>문화 적응 도우미로 연계</a:t>
            </a:r>
            <a:endParaRPr lang="en-US" altLang="ko-KR" dirty="0"/>
          </a:p>
          <a:p>
            <a:r>
              <a:rPr lang="ko-KR" altLang="en-US" dirty="0"/>
              <a:t>초반 </a:t>
            </a:r>
            <a:r>
              <a:rPr lang="en-US" altLang="ko-KR" dirty="0"/>
              <a:t>3</a:t>
            </a:r>
            <a:r>
              <a:rPr lang="ko-KR" altLang="en-US" dirty="0"/>
              <a:t>장 안에 궁금증을 유발하기 → </a:t>
            </a:r>
          </a:p>
        </p:txBody>
      </p:sp>
    </p:spTree>
    <p:extLst>
      <p:ext uri="{BB962C8B-B14F-4D97-AF65-F5344CB8AC3E}">
        <p14:creationId xmlns:p14="http://schemas.microsoft.com/office/powerpoint/2010/main" val="4173151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공통 부분 하나 만들기</a:t>
            </a:r>
          </a:p>
        </p:txBody>
      </p:sp>
    </p:spTree>
    <p:extLst>
      <p:ext uri="{BB962C8B-B14F-4D97-AF65-F5344CB8AC3E}">
        <p14:creationId xmlns:p14="http://schemas.microsoft.com/office/powerpoint/2010/main" val="3688650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3BBC9-2D01-5721-94FC-353DEC8B7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225BC5-11C2-D47C-6BC7-74841620C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5D13B3-D7E3-2E2B-71F1-40C419180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5A65-A586-4074-A34F-F773A45F892B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C6C1A4-440A-0EAB-36ED-A0AE39266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6F5C51-AED2-E4ED-D2A4-341A7BC37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3973-902A-4F1F-A027-4B003FA9A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007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EC5BF-2E63-E3A5-56C1-F0F022475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73DCA3-26CF-6965-A23D-F52CC5922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DC1090-78EE-2932-FED5-016EEFF83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5A65-A586-4074-A34F-F773A45F892B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5F960D-CF85-FF75-FBA4-9BFC24F45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6BB6E5-8338-AF99-9669-031DD843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3973-902A-4F1F-A027-4B003FA9A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87720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20D8BD-D5DD-4347-E2CD-2129C31E2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900343-DF84-9D1C-40F0-A5449BB9B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CD7738-063B-0B5E-5E85-70621FCBB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5A65-A586-4074-A34F-F773A45F892B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94732B-70E2-CBF0-E2F1-382DB82B3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B1D754-DDA0-F136-26B5-83AF7B22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3973-902A-4F1F-A027-4B003FA9A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15523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8FE01-968A-40EB-3A56-1F13C91C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05EA31-37F2-F63C-B62D-65D72403F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455FF8-3F4C-1808-69BB-A13792CA6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268E96-CBA9-04CC-8B9A-5F2A223DA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5A65-A586-4074-A34F-F773A45F892B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BC4D25-0E75-2464-F2D6-03E22E5B6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EFF977-6D54-4525-A386-E4562295A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3973-902A-4F1F-A027-4B003FA9A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119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CAE156-FE0B-994A-B054-06704F520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1B561F-0241-FE37-1133-3F7C04C4F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B47195-B71D-55E9-C3F6-E84F51B2E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6FD3AB3-17BA-F41B-F83D-C2D42A602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A5ABD7-973B-F179-72C2-ED8A97A22C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DAB4C74-B68B-5A3C-B657-F21E03CBC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5A65-A586-4074-A34F-F773A45F892B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A4A7AD7-875C-5827-3486-F02251529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4E94E3-4D87-8A96-BB80-85685A8B8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3973-902A-4F1F-A027-4B003FA9A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3630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A727E-72F2-F90A-2924-FDCC42234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A6E54CA-C2D0-5723-B673-3414B6CAD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5A65-A586-4074-A34F-F773A45F892B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59B048-9ED7-7FDD-F8B7-188BC3597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69ABB7-51E7-BF26-E573-CE19A04E9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3973-902A-4F1F-A027-4B003FA9A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72630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F9D9F76-95BA-BE85-80C4-5D109E095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5A65-A586-4074-A34F-F773A45F892B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C4131B-430F-B6EF-C246-6EE3CFC48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15B489-0C96-B196-BB16-D455D2F4E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3973-902A-4F1F-A027-4B003FA9A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27283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CE51F7-B495-E898-9A9E-56EB829BE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17B5DF-BEC5-8E24-A6FF-03791F8B5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22B7C7-341C-C1F6-9417-DA676C863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1A54BD-0F80-BA86-7A50-002655CD6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5A65-A586-4074-A34F-F773A45F892B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5508A7-F168-36EB-5692-BAB83AF39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E4F331-2B11-3103-2F8F-0211BB23C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3973-902A-4F1F-A027-4B003FA9A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10665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82FF4C-14AA-43B8-F744-392B4809B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E095EE4-5ADC-DA49-3A12-99141AF8E8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F8DFC3-D72A-08F3-FA2C-08C36713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1F67C0-CFE7-01FE-7ED9-01961BD7D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5A65-A586-4074-A34F-F773A45F892B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B8CA19-830F-29C6-FB66-70F9FFCED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0F0077-5B82-9F69-4E9D-23E97984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3973-902A-4F1F-A027-4B003FA9A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3154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FB15B-2834-735B-E54A-64C435A14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1825B1-A0CE-B55B-1CAF-B0C774D04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A949D4-1D48-8F35-2744-CAE7A208E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5A65-A586-4074-A34F-F773A45F892B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29A88D-6292-747F-4CE4-37C1B68DD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2B3EF2-4000-8170-6327-8E985D2A9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3973-902A-4F1F-A027-4B003FA9A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296195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D82033-CFB1-52EB-CD24-C3E2FBCDB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69F86C-9644-7CB7-FB94-A4E528417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8EC526-713B-A358-FDE5-ACB2B1190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5A65-A586-4074-A34F-F773A45F892B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A8952A-F651-62C0-0EB7-9F3CC41D4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1096BA-A83B-A86C-E27F-E9FAF56C7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3973-902A-4F1F-A027-4B003FA9A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54274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E05653B-DE65-79A7-5896-3F9425F0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957541-4CC6-F93B-2FEA-A711DA4D3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FFE6C3-5D7E-ADE0-6013-63204CF9B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5A65-A586-4074-A34F-F773A45F892B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DCD446-9FF7-C5E9-A954-A746B3BD67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04C957-3E66-D2C8-8F8A-2471349D8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A3973-902A-4F1F-A027-4B003FA9A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02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E35A7-B4D0-C558-A181-3A6238877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F463E9-DE07-A0DD-E5BB-368B6229559C}"/>
              </a:ext>
            </a:extLst>
          </p:cNvPr>
          <p:cNvSpPr/>
          <p:nvPr/>
        </p:nvSpPr>
        <p:spPr>
          <a:xfrm>
            <a:off x="0" y="1"/>
            <a:ext cx="3600450" cy="5143500"/>
          </a:xfrm>
          <a:custGeom>
            <a:avLst/>
            <a:gdLst>
              <a:gd name="connsiteX0" fmla="*/ 0 w 3600450"/>
              <a:gd name="connsiteY0" fmla="*/ 0 h 5143500"/>
              <a:gd name="connsiteX1" fmla="*/ 3600450 w 3600450"/>
              <a:gd name="connsiteY1" fmla="*/ 0 h 5143500"/>
              <a:gd name="connsiteX2" fmla="*/ 3600450 w 3600450"/>
              <a:gd name="connsiteY2" fmla="*/ 5143500 h 5143500"/>
              <a:gd name="connsiteX3" fmla="*/ 0 w 3600450"/>
              <a:gd name="connsiteY3" fmla="*/ 5143500 h 5143500"/>
              <a:gd name="connsiteX4" fmla="*/ 0 w 3600450"/>
              <a:gd name="connsiteY4" fmla="*/ 0 h 5143500"/>
              <a:gd name="connsiteX0" fmla="*/ 0 w 3600450"/>
              <a:gd name="connsiteY0" fmla="*/ 0 h 5143500"/>
              <a:gd name="connsiteX1" fmla="*/ 3600450 w 3600450"/>
              <a:gd name="connsiteY1" fmla="*/ 0 h 5143500"/>
              <a:gd name="connsiteX2" fmla="*/ 1920506 w 3600450"/>
              <a:gd name="connsiteY2" fmla="*/ 5136411 h 5143500"/>
              <a:gd name="connsiteX3" fmla="*/ 0 w 3600450"/>
              <a:gd name="connsiteY3" fmla="*/ 5143500 h 5143500"/>
              <a:gd name="connsiteX4" fmla="*/ 0 w 3600450"/>
              <a:gd name="connsiteY4" fmla="*/ 0 h 5143500"/>
              <a:gd name="connsiteX0" fmla="*/ 0 w 3600450"/>
              <a:gd name="connsiteY0" fmla="*/ 0 h 5143500"/>
              <a:gd name="connsiteX1" fmla="*/ 3600450 w 3600450"/>
              <a:gd name="connsiteY1" fmla="*/ 0 h 5143500"/>
              <a:gd name="connsiteX2" fmla="*/ 1963036 w 3600450"/>
              <a:gd name="connsiteY2" fmla="*/ 5143499 h 5143500"/>
              <a:gd name="connsiteX3" fmla="*/ 0 w 3600450"/>
              <a:gd name="connsiteY3" fmla="*/ 5143500 h 5143500"/>
              <a:gd name="connsiteX4" fmla="*/ 0 w 3600450"/>
              <a:gd name="connsiteY4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00450" h="5143500">
                <a:moveTo>
                  <a:pt x="0" y="0"/>
                </a:moveTo>
                <a:lnTo>
                  <a:pt x="3600450" y="0"/>
                </a:lnTo>
                <a:lnTo>
                  <a:pt x="1963036" y="5143499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solidFill>
            <a:srgbClr val="C7E0E7"/>
          </a:solidFill>
          <a:ln/>
        </p:spPr>
        <p:txBody>
          <a:bodyPr/>
          <a:lstStyle/>
          <a:p>
            <a:endParaRPr lang="ko-KR" altLang="en-US" sz="400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D7E555-58DF-E509-36AA-6CEA5E15835D}"/>
              </a:ext>
            </a:extLst>
          </p:cNvPr>
          <p:cNvSpPr/>
          <p:nvPr/>
        </p:nvSpPr>
        <p:spPr>
          <a:xfrm>
            <a:off x="3925119" y="210041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ko-KR" altLang="en-US" sz="40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제목도 다시 해야 되네</a:t>
            </a:r>
            <a:endParaRPr lang="en-US" sz="4000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DF02E5C-F50A-0809-6F42-8DEA7B226F45}"/>
              </a:ext>
            </a:extLst>
          </p:cNvPr>
          <p:cNvSpPr/>
          <p:nvPr/>
        </p:nvSpPr>
        <p:spPr>
          <a:xfrm>
            <a:off x="3925119" y="279497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40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~~ </a:t>
            </a:r>
            <a:r>
              <a:rPr lang="ko-KR" altLang="en-US" sz="40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예측 서비스</a:t>
            </a:r>
            <a:endParaRPr lang="en-US" sz="4000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A2EA366-E7A6-7A8E-0F4A-1D41EC1F6BAA}"/>
              </a:ext>
            </a:extLst>
          </p:cNvPr>
          <p:cNvSpPr/>
          <p:nvPr/>
        </p:nvSpPr>
        <p:spPr>
          <a:xfrm>
            <a:off x="3925119" y="3043089"/>
            <a:ext cx="472276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6"/>
              </a:lnSpc>
            </a:pPr>
            <a:endParaRPr lang="en-US" sz="4000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5E6ACCF-DE5B-766C-5FC8-BB1B8BE83983}"/>
              </a:ext>
            </a:extLst>
          </p:cNvPr>
          <p:cNvSpPr/>
          <p:nvPr/>
        </p:nvSpPr>
        <p:spPr>
          <a:xfrm>
            <a:off x="6685808" y="4086623"/>
            <a:ext cx="153623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ko-KR" altLang="en-US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김진혁</a:t>
            </a:r>
            <a:r>
              <a:rPr lang="en-US" altLang="ko-KR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, </a:t>
            </a:r>
            <a:r>
              <a:rPr lang="ko-KR" altLang="en-US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김세준</a:t>
            </a:r>
            <a:endParaRPr lang="en-US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171A324-8939-D001-8CB0-0D9FB3D21ED8}"/>
              </a:ext>
            </a:extLst>
          </p:cNvPr>
          <p:cNvSpPr/>
          <p:nvPr/>
        </p:nvSpPr>
        <p:spPr>
          <a:xfrm>
            <a:off x="7381054" y="4422010"/>
            <a:ext cx="75030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1400" dirty="0">
                <a:solidFill>
                  <a:srgbClr val="53697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25.10.31</a:t>
            </a:r>
          </a:p>
        </p:txBody>
      </p:sp>
    </p:spTree>
    <p:extLst>
      <p:ext uri="{BB962C8B-B14F-4D97-AF65-F5344CB8AC3E}">
        <p14:creationId xmlns:p14="http://schemas.microsoft.com/office/powerpoint/2010/main" val="2909529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E602E-4BF5-2B19-A0F3-6E3A6C2F4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>
            <a:extLst>
              <a:ext uri="{FF2B5EF4-FFF2-40B4-BE49-F238E27FC236}">
                <a16:creationId xmlns:a16="http://schemas.microsoft.com/office/drawing/2014/main" id="{993FD12E-F087-07CB-4FD0-4B02D6213793}"/>
              </a:ext>
            </a:extLst>
          </p:cNvPr>
          <p:cNvSpPr/>
          <p:nvPr/>
        </p:nvSpPr>
        <p:spPr>
          <a:xfrm>
            <a:off x="496119" y="153985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800" dirty="0" err="1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목차</a:t>
            </a:r>
            <a:endParaRPr lang="en-US" sz="2800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2026A845-D1D2-6D76-AEAD-20907C113742}"/>
              </a:ext>
            </a:extLst>
          </p:cNvPr>
          <p:cNvSpPr/>
          <p:nvPr/>
        </p:nvSpPr>
        <p:spPr>
          <a:xfrm>
            <a:off x="496119" y="2390403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6"/>
              </a:lnSpc>
            </a:pPr>
            <a:r>
              <a:rPr lang="en-US" sz="1094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Light" pitchFamily="34" charset="-120"/>
              </a:rPr>
              <a:t>01</a:t>
            </a:r>
            <a:endParaRPr lang="en-US" sz="1094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4E4D7063-C450-9B6F-554B-507F3D33E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612306"/>
            <a:ext cx="2622724" cy="19050"/>
          </a:xfrm>
          <a:prstGeom prst="rect">
            <a:avLst/>
          </a:prstGeom>
          <a:solidFill>
            <a:srgbClr val="C7E0E7"/>
          </a:solidFill>
        </p:spPr>
      </p:pic>
      <p:sp>
        <p:nvSpPr>
          <p:cNvPr id="17" name="Text 2">
            <a:extLst>
              <a:ext uri="{FF2B5EF4-FFF2-40B4-BE49-F238E27FC236}">
                <a16:creationId xmlns:a16="http://schemas.microsoft.com/office/drawing/2014/main" id="{09F14AA8-9F61-AC7B-AAB0-72BCF14F6BCF}"/>
              </a:ext>
            </a:extLst>
          </p:cNvPr>
          <p:cNvSpPr/>
          <p:nvPr/>
        </p:nvSpPr>
        <p:spPr>
          <a:xfrm>
            <a:off x="496119" y="2721248"/>
            <a:ext cx="2622724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81"/>
              </a:lnSpc>
            </a:pPr>
            <a:r>
              <a:rPr lang="ko-KR" altLang="en-US" sz="2400" b="1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기획서</a:t>
            </a:r>
            <a:r>
              <a:rPr lang="ko-KR" altLang="en-US" sz="2219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 </a:t>
            </a:r>
            <a:r>
              <a:rPr lang="en-US" altLang="ko-KR" sz="2219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- </a:t>
            </a:r>
            <a:r>
              <a:rPr lang="en-US" sz="1400" dirty="0" err="1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기획의도</a:t>
            </a:r>
            <a:endParaRPr lang="en-US" sz="2219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E86A2F3D-12F3-EE90-4ACA-9A8B03F78D5B}"/>
              </a:ext>
            </a:extLst>
          </p:cNvPr>
          <p:cNvSpPr/>
          <p:nvPr/>
        </p:nvSpPr>
        <p:spPr>
          <a:xfrm>
            <a:off x="496119" y="3160663"/>
            <a:ext cx="262272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6"/>
              </a:lnSpc>
            </a:pPr>
            <a:endParaRPr lang="en-US" sz="1094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2BE01CDD-6D69-5E5D-5644-4CCEBDF19584}"/>
              </a:ext>
            </a:extLst>
          </p:cNvPr>
          <p:cNvSpPr/>
          <p:nvPr/>
        </p:nvSpPr>
        <p:spPr>
          <a:xfrm>
            <a:off x="3260601" y="2390403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6"/>
              </a:lnSpc>
            </a:pPr>
            <a:r>
              <a:rPr lang="en-US" sz="1094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Light" pitchFamily="34" charset="-120"/>
              </a:rPr>
              <a:t>02</a:t>
            </a:r>
            <a:endParaRPr lang="en-US" sz="1094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5B8FE0CB-2C21-7A51-B4DB-722C880D4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601" y="2612306"/>
            <a:ext cx="2622724" cy="19050"/>
          </a:xfrm>
          <a:prstGeom prst="rect">
            <a:avLst/>
          </a:prstGeom>
          <a:solidFill>
            <a:srgbClr val="C7E0E7"/>
          </a:solidFill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636745BD-5787-BF10-A4D2-0D9ECAC6443E}"/>
              </a:ext>
            </a:extLst>
          </p:cNvPr>
          <p:cNvSpPr/>
          <p:nvPr/>
        </p:nvSpPr>
        <p:spPr>
          <a:xfrm>
            <a:off x="3260601" y="2721248"/>
            <a:ext cx="2622724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81"/>
              </a:lnSpc>
            </a:pPr>
            <a:r>
              <a:rPr lang="ko-KR" altLang="en-US" sz="2400" b="1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기획서</a:t>
            </a:r>
            <a:r>
              <a:rPr lang="ko-KR" altLang="en-US" sz="2219" b="1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 </a:t>
            </a:r>
            <a:r>
              <a:rPr lang="en-US" altLang="ko-KR" sz="2219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- </a:t>
            </a:r>
            <a:r>
              <a:rPr lang="en-US" sz="1400" dirty="0" err="1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개발</a:t>
            </a:r>
            <a:r>
              <a:rPr lang="en-US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 목표</a:t>
            </a:r>
            <a:endParaRPr lang="en-US" sz="1600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AE3DAB4D-9E8C-BE06-1C92-749DF11F29AF}"/>
              </a:ext>
            </a:extLst>
          </p:cNvPr>
          <p:cNvSpPr/>
          <p:nvPr/>
        </p:nvSpPr>
        <p:spPr>
          <a:xfrm>
            <a:off x="6025083" y="2390403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6"/>
              </a:lnSpc>
            </a:pPr>
            <a:r>
              <a:rPr lang="en-US" sz="1094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Light" pitchFamily="34" charset="-120"/>
              </a:rPr>
              <a:t>03</a:t>
            </a:r>
            <a:endParaRPr lang="en-US" sz="1094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CFFF0FEB-67F2-675C-CFAC-60A40AA06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083" y="2612306"/>
            <a:ext cx="2622724" cy="19050"/>
          </a:xfrm>
          <a:prstGeom prst="rect">
            <a:avLst/>
          </a:prstGeom>
          <a:solidFill>
            <a:srgbClr val="C7E0E7"/>
          </a:solidFill>
        </p:spPr>
      </p:pic>
      <p:sp>
        <p:nvSpPr>
          <p:cNvPr id="24" name="Text 7">
            <a:extLst>
              <a:ext uri="{FF2B5EF4-FFF2-40B4-BE49-F238E27FC236}">
                <a16:creationId xmlns:a16="http://schemas.microsoft.com/office/drawing/2014/main" id="{F743D4BC-212F-0DF9-45A6-06FE3CBB147D}"/>
              </a:ext>
            </a:extLst>
          </p:cNvPr>
          <p:cNvSpPr/>
          <p:nvPr/>
        </p:nvSpPr>
        <p:spPr>
          <a:xfrm>
            <a:off x="6025083" y="2721248"/>
            <a:ext cx="2622724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81"/>
              </a:lnSpc>
            </a:pPr>
            <a:r>
              <a:rPr lang="en-US" sz="2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업무 분장</a:t>
            </a:r>
            <a:endParaRPr lang="en-US" sz="2400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3ED63A63-2C0E-9BAC-4E42-761137F768C6}"/>
              </a:ext>
            </a:extLst>
          </p:cNvPr>
          <p:cNvSpPr/>
          <p:nvPr/>
        </p:nvSpPr>
        <p:spPr>
          <a:xfrm>
            <a:off x="6025083" y="3160663"/>
            <a:ext cx="262272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6"/>
              </a:lnSpc>
            </a:pPr>
            <a:endParaRPr lang="en-US" sz="1094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3829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6F04A-29F4-3343-49F9-E2891BBF1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FE28C57-3662-F81B-FCA3-B29D180379AF}"/>
              </a:ext>
            </a:extLst>
          </p:cNvPr>
          <p:cNvSpPr/>
          <p:nvPr/>
        </p:nvSpPr>
        <p:spPr>
          <a:xfrm>
            <a:off x="509852" y="342243"/>
            <a:ext cx="2004747" cy="399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800" dirty="0" err="1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기획</a:t>
            </a:r>
            <a:r>
              <a:rPr lang="ko-KR" altLang="en-US" sz="28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서</a:t>
            </a:r>
            <a:r>
              <a:rPr lang="en-US" altLang="ko-KR" sz="28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 </a:t>
            </a:r>
            <a:r>
              <a:rPr lang="en-US" altLang="ko-KR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</a:t>
            </a:r>
            <a:r>
              <a:rPr lang="ko-KR" altLang="en-US" sz="12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기획의도</a:t>
            </a:r>
            <a:endParaRPr lang="en-US" altLang="ko-KR" sz="2800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>
              <a:lnSpc>
                <a:spcPts val="2750"/>
              </a:lnSpc>
            </a:pPr>
            <a:endParaRPr lang="en-US" altLang="ko-KR" sz="2800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Host Grotesk Medium" pitchFamily="34" charset="-120"/>
            </a:endParaRPr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4382C174-BE98-6F5E-738F-E36C1B3C4E16}"/>
              </a:ext>
            </a:extLst>
          </p:cNvPr>
          <p:cNvSpPr/>
          <p:nvPr/>
        </p:nvSpPr>
        <p:spPr>
          <a:xfrm>
            <a:off x="5377881" y="517341"/>
            <a:ext cx="5318569" cy="408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endParaRPr lang="en-US" b="1" dirty="0">
              <a:solidFill>
                <a:srgbClr val="536977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Roboto" pitchFamily="34" charset="-120"/>
            </a:endParaRP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CBD08362-4481-5D7B-DD7F-D1EED206FFA9}"/>
              </a:ext>
            </a:extLst>
          </p:cNvPr>
          <p:cNvSpPr/>
          <p:nvPr/>
        </p:nvSpPr>
        <p:spPr>
          <a:xfrm rot="5400000">
            <a:off x="6191832" y="1180477"/>
            <a:ext cx="575561" cy="663679"/>
          </a:xfrm>
          <a:prstGeom prst="rightArrow">
            <a:avLst/>
          </a:prstGeom>
          <a:solidFill>
            <a:srgbClr val="536977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352934A1-9C9A-0ED6-2311-60D0D5C4D8D4}"/>
              </a:ext>
            </a:extLst>
          </p:cNvPr>
          <p:cNvSpPr/>
          <p:nvPr/>
        </p:nvSpPr>
        <p:spPr>
          <a:xfrm>
            <a:off x="1977459" y="561524"/>
            <a:ext cx="3224090" cy="472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endParaRPr lang="en-US" b="1" dirty="0">
              <a:solidFill>
                <a:srgbClr val="536977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Roboto" pitchFamily="34" charset="-120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84D56AC-518D-6008-31C2-2BFA9DB71AE8}"/>
              </a:ext>
            </a:extLst>
          </p:cNvPr>
          <p:cNvGrpSpPr/>
          <p:nvPr/>
        </p:nvGrpSpPr>
        <p:grpSpPr>
          <a:xfrm>
            <a:off x="489282" y="844344"/>
            <a:ext cx="3456162" cy="663679"/>
            <a:chOff x="428715" y="980034"/>
            <a:chExt cx="4006531" cy="82990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0FB7C7D-37EC-34BD-29C2-08533D525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8715" y="980034"/>
              <a:ext cx="4006531" cy="82990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B8805A2-9662-DD22-5A24-11F5F9E1A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20819" y="1417124"/>
              <a:ext cx="814427" cy="293728"/>
            </a:xfrm>
            <a:prstGeom prst="rect">
              <a:avLst/>
            </a:prstGeom>
          </p:spPr>
        </p:pic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82201C25-74D5-D8F6-20A1-6AC48B01BD5D}"/>
              </a:ext>
            </a:extLst>
          </p:cNvPr>
          <p:cNvGrpSpPr/>
          <p:nvPr/>
        </p:nvGrpSpPr>
        <p:grpSpPr>
          <a:xfrm>
            <a:off x="470785" y="4428417"/>
            <a:ext cx="3658928" cy="576230"/>
            <a:chOff x="5665110" y="2809855"/>
            <a:chExt cx="3169052" cy="498089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32181F8A-E658-F1E4-CDF1-FCB20AECA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65110" y="2809855"/>
              <a:ext cx="3169052" cy="498089"/>
            </a:xfrm>
            <a:prstGeom prst="rect">
              <a:avLst/>
            </a:prstGeom>
          </p:spPr>
        </p:pic>
        <p:pic>
          <p:nvPicPr>
            <p:cNvPr id="1027" name="그림 1026">
              <a:extLst>
                <a:ext uri="{FF2B5EF4-FFF2-40B4-BE49-F238E27FC236}">
                  <a16:creationId xmlns:a16="http://schemas.microsoft.com/office/drawing/2014/main" id="{865A9F5B-1F8B-A4C8-0C08-DC1CA3CF7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83445" y="3070474"/>
              <a:ext cx="526010" cy="237469"/>
            </a:xfrm>
            <a:prstGeom prst="rect">
              <a:avLst/>
            </a:prstGeom>
          </p:spPr>
        </p:pic>
      </p:grpSp>
      <p:grpSp>
        <p:nvGrpSpPr>
          <p:cNvPr id="1032" name="그룹 1031">
            <a:extLst>
              <a:ext uri="{FF2B5EF4-FFF2-40B4-BE49-F238E27FC236}">
                <a16:creationId xmlns:a16="http://schemas.microsoft.com/office/drawing/2014/main" id="{9C7DEFDC-35EA-6267-B669-B425128D19EF}"/>
              </a:ext>
            </a:extLst>
          </p:cNvPr>
          <p:cNvGrpSpPr/>
          <p:nvPr/>
        </p:nvGrpSpPr>
        <p:grpSpPr>
          <a:xfrm>
            <a:off x="769086" y="1719927"/>
            <a:ext cx="3121106" cy="2654389"/>
            <a:chOff x="6101787" y="293582"/>
            <a:chExt cx="3121106" cy="2654389"/>
          </a:xfrm>
        </p:grpSpPr>
        <p:pic>
          <p:nvPicPr>
            <p:cNvPr id="1026" name="Picture 2" descr="부모 출신국별 다문화학생 비율. KESS 제공">
              <a:extLst>
                <a:ext uri="{FF2B5EF4-FFF2-40B4-BE49-F238E27FC236}">
                  <a16:creationId xmlns:a16="http://schemas.microsoft.com/office/drawing/2014/main" id="{C5AB0B5F-15EE-DFF7-19A9-FA236EA422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2695" y="1130128"/>
              <a:ext cx="3100198" cy="18178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1BA179F1-DA8D-76E6-0F50-420E46911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01787" y="293582"/>
              <a:ext cx="3062327" cy="782445"/>
            </a:xfrm>
            <a:prstGeom prst="rect">
              <a:avLst/>
            </a:prstGeom>
          </p:spPr>
        </p:pic>
        <p:pic>
          <p:nvPicPr>
            <p:cNvPr id="1031" name="그림 1030">
              <a:extLst>
                <a:ext uri="{FF2B5EF4-FFF2-40B4-BE49-F238E27FC236}">
                  <a16:creationId xmlns:a16="http://schemas.microsoft.com/office/drawing/2014/main" id="{87F1DABB-CF3A-2736-3227-94C63A472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457945" y="721107"/>
              <a:ext cx="706169" cy="302354"/>
            </a:xfrm>
            <a:prstGeom prst="rect">
              <a:avLst/>
            </a:prstGeom>
          </p:spPr>
        </p:pic>
      </p:grpSp>
      <p:sp>
        <p:nvSpPr>
          <p:cNvPr id="1036" name="화살표: 오른쪽 1035">
            <a:extLst>
              <a:ext uri="{FF2B5EF4-FFF2-40B4-BE49-F238E27FC236}">
                <a16:creationId xmlns:a16="http://schemas.microsoft.com/office/drawing/2014/main" id="{3C5BAD7E-3CA3-B94F-1EE3-2C2EDD35123C}"/>
              </a:ext>
            </a:extLst>
          </p:cNvPr>
          <p:cNvSpPr/>
          <p:nvPr/>
        </p:nvSpPr>
        <p:spPr>
          <a:xfrm rot="5400000">
            <a:off x="6191832" y="3133554"/>
            <a:ext cx="575561" cy="663679"/>
          </a:xfrm>
          <a:prstGeom prst="rightArrow">
            <a:avLst/>
          </a:prstGeom>
          <a:solidFill>
            <a:srgbClr val="536977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4D794666-3E40-C8F4-87BE-5E7B610790DB}"/>
              </a:ext>
            </a:extLst>
          </p:cNvPr>
          <p:cNvSpPr txBox="1"/>
          <p:nvPr/>
        </p:nvSpPr>
        <p:spPr>
          <a:xfrm>
            <a:off x="4494011" y="3920256"/>
            <a:ext cx="45197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ko-KR" altLang="en-US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이에 </a:t>
            </a:r>
            <a:r>
              <a:rPr lang="ko-KR" altLang="en-US" sz="1600" b="1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국적별</a:t>
            </a:r>
            <a:r>
              <a:rPr lang="ko-KR" altLang="en-US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다문화자녀의 </a:t>
            </a:r>
            <a:r>
              <a:rPr lang="ko-KR" altLang="en-US" sz="1600" b="1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부적응 정도</a:t>
            </a:r>
            <a:r>
              <a:rPr lang="ko-KR" altLang="en-US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파악하고</a:t>
            </a:r>
            <a:r>
              <a:rPr lang="en-US" altLang="ko-KR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</a:p>
          <a:p>
            <a:endParaRPr lang="en-US" altLang="ko-KR" sz="1400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ko-KR" altLang="en-US" sz="16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지역별 다문화가정의 적응 현황</a:t>
            </a:r>
            <a:r>
              <a:rPr lang="ko-KR" altLang="en-US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과 비교하여 </a:t>
            </a:r>
            <a:r>
              <a:rPr lang="ko-KR" altLang="en-US" sz="1600" b="1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해결방안을 제시</a:t>
            </a:r>
            <a:r>
              <a:rPr lang="ko-KR" altLang="en-US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하고자 한다</a:t>
            </a:r>
            <a:r>
              <a:rPr lang="en-US" altLang="ko-KR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  <a:r>
              <a:rPr lang="en-US" altLang="ko-KR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”</a:t>
            </a:r>
            <a:endParaRPr lang="en-US" altLang="ko-KR" sz="1400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ko-KR" altLang="en-US" dirty="0"/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FB4869EA-F675-8331-BAD4-B4FAACB030D8}"/>
              </a:ext>
            </a:extLst>
          </p:cNvPr>
          <p:cNvSpPr txBox="1"/>
          <p:nvPr/>
        </p:nvSpPr>
        <p:spPr>
          <a:xfrm>
            <a:off x="4535727" y="2030359"/>
            <a:ext cx="41587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동남아권 다문화가정이 사회적 이슈로 대두되고 있다</a:t>
            </a:r>
            <a:r>
              <a:rPr lang="en-US" altLang="ko-KR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endParaRPr lang="en-US" altLang="ko-KR" sz="1400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ko-KR" altLang="en-US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그렇다면 </a:t>
            </a:r>
            <a:r>
              <a:rPr lang="ko-KR" altLang="en-US" b="1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다른 국적 가정들</a:t>
            </a:r>
            <a:r>
              <a:rPr lang="ko-KR" altLang="en-US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은 잘 살고 있는가</a:t>
            </a:r>
            <a:r>
              <a:rPr lang="en-US" altLang="ko-KR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</a:p>
          <a:p>
            <a:endParaRPr lang="ko-KR" altLang="en-US" sz="1400" dirty="0"/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0804C975-E645-9E12-3968-E649273A23E5}"/>
              </a:ext>
            </a:extLst>
          </p:cNvPr>
          <p:cNvSpPr txBox="1"/>
          <p:nvPr/>
        </p:nvSpPr>
        <p:spPr>
          <a:xfrm>
            <a:off x="3766120" y="317947"/>
            <a:ext cx="56979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다문화가정이 빠르게 늘어나면서 사회적 문제도 함께 드러나고 있다</a:t>
            </a:r>
            <a:r>
              <a:rPr lang="en-US" altLang="ko-KR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sz="1400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특히 동남아권의 높은 이혼율은 대표적 사례로 지적된다</a:t>
            </a:r>
            <a:r>
              <a:rPr lang="en-US" altLang="ko-KR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530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50521-9466-8BC2-EEC4-77500C33A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1A131CE-FFC2-F3C4-A5D4-6AC32EAE9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811462" y="-313282"/>
            <a:ext cx="667196" cy="333605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7940641-FD60-53B9-B82D-A2F46057A699}"/>
              </a:ext>
            </a:extLst>
          </p:cNvPr>
          <p:cNvSpPr/>
          <p:nvPr/>
        </p:nvSpPr>
        <p:spPr>
          <a:xfrm>
            <a:off x="509851" y="2080434"/>
            <a:ext cx="3681550" cy="1169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0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기초 설계</a:t>
            </a:r>
            <a:r>
              <a:rPr lang="en-US" altLang="ko-KR" sz="20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?</a:t>
            </a:r>
            <a:r>
              <a:rPr lang="ko-KR" altLang="en-US" sz="20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 </a:t>
            </a:r>
            <a:r>
              <a:rPr lang="en-US" altLang="ko-KR" sz="20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: 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76778C9-E274-5672-ACE1-15595EB08CEA}"/>
              </a:ext>
            </a:extLst>
          </p:cNvPr>
          <p:cNvGrpSpPr/>
          <p:nvPr/>
        </p:nvGrpSpPr>
        <p:grpSpPr>
          <a:xfrm>
            <a:off x="5219253" y="2299544"/>
            <a:ext cx="3390964" cy="469838"/>
            <a:chOff x="5330912" y="2080435"/>
            <a:chExt cx="3390964" cy="469838"/>
          </a:xfrm>
        </p:grpSpPr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88D5AAAE-A47E-C83B-8532-87CBEB03FABB}"/>
                </a:ext>
              </a:extLst>
            </p:cNvPr>
            <p:cNvSpPr/>
            <p:nvPr/>
          </p:nvSpPr>
          <p:spPr>
            <a:xfrm>
              <a:off x="5330912" y="2080435"/>
              <a:ext cx="710214" cy="2085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50" indent="-285750">
                <a:lnSpc>
                  <a:spcPts val="1625"/>
                </a:lnSpc>
                <a:buFont typeface="Wingdings" panose="05000000000000000000" pitchFamily="2" charset="2"/>
                <a:buChar char="ü"/>
              </a:pPr>
              <a:r>
                <a:rPr lang="en-US" sz="2000" dirty="0">
                  <a:solidFill>
                    <a:srgbClr val="384653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  <a:cs typeface="Host Grotesk Medium" pitchFamily="34" charset="-120"/>
                </a:rPr>
                <a:t>머신러닝</a:t>
              </a:r>
              <a:endParaRPr lang="en-US" sz="2000" dirty="0"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EF7F847E-8438-9FCB-0CC0-335D2978DA5B}"/>
                </a:ext>
              </a:extLst>
            </p:cNvPr>
            <p:cNvSpPr/>
            <p:nvPr/>
          </p:nvSpPr>
          <p:spPr>
            <a:xfrm>
              <a:off x="5587965" y="2350174"/>
              <a:ext cx="3133911" cy="20009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171450" indent="-171450">
                <a:lnSpc>
                  <a:spcPts val="1563"/>
                </a:lnSpc>
                <a:buFont typeface="Wingdings" panose="05000000000000000000" pitchFamily="2" charset="2"/>
                <a:buChar char="§"/>
              </a:pPr>
              <a:r>
                <a:rPr lang="ko-KR" altLang="en-US" sz="1100" b="1" dirty="0">
                  <a:solidFill>
                    <a:srgbClr val="384653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Roboto" pitchFamily="34" charset="-120"/>
                </a:rPr>
                <a:t>모델 </a:t>
              </a:r>
              <a:r>
                <a:rPr lang="en-US" altLang="ko-KR" sz="1100" b="1" dirty="0">
                  <a:solidFill>
                    <a:srgbClr val="384653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Roboto" pitchFamily="34" charset="-120"/>
                </a:rPr>
                <a:t>: 다중회귀 </a:t>
              </a:r>
              <a:r>
                <a:rPr lang="en-US" altLang="ko-KR" sz="11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·</a:t>
              </a:r>
              <a:r>
                <a:rPr lang="en-US" altLang="ko-KR" sz="1100" b="1" dirty="0">
                  <a:solidFill>
                    <a:srgbClr val="384653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Roboto" pitchFamily="34" charset="-120"/>
                </a:rPr>
                <a:t> Random Forest</a:t>
              </a:r>
            </a:p>
            <a:p>
              <a:pPr marL="171450" indent="-171450">
                <a:lnSpc>
                  <a:spcPts val="1563"/>
                </a:lnSpc>
                <a:buFont typeface="Wingdings" panose="05000000000000000000" pitchFamily="2" charset="2"/>
                <a:buChar char="§"/>
              </a:pPr>
              <a:r>
                <a:rPr lang="ko-KR" altLang="en-US" sz="1100" b="1" dirty="0">
                  <a:solidFill>
                    <a:srgbClr val="384653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Roboto" pitchFamily="34" charset="-120"/>
                </a:rPr>
                <a:t>신뢰도 검사 </a:t>
              </a:r>
              <a:r>
                <a:rPr lang="en-US" altLang="ko-KR" sz="1100" b="1" dirty="0">
                  <a:solidFill>
                    <a:srgbClr val="384653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Roboto" pitchFamily="34" charset="-120"/>
                </a:rPr>
                <a:t>: </a:t>
              </a:r>
            </a:p>
            <a:p>
              <a:pPr marL="628650" lvl="1" indent="-171450">
                <a:lnSpc>
                  <a:spcPts val="1563"/>
                </a:lnSpc>
                <a:buFont typeface="Wingdings" panose="05000000000000000000" pitchFamily="2" charset="2"/>
                <a:buChar char="Ø"/>
              </a:pPr>
              <a:r>
                <a:rPr lang="ko-KR" altLang="en-US" sz="1100" b="1" dirty="0">
                  <a:solidFill>
                    <a:srgbClr val="384653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Roboto" pitchFamily="34" charset="-120"/>
                </a:rPr>
                <a:t>피어슨 상관계수</a:t>
              </a:r>
              <a:r>
                <a:rPr lang="en-US" altLang="ko-KR" sz="1100" b="1" dirty="0">
                  <a:solidFill>
                    <a:srgbClr val="384653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Roboto" pitchFamily="34" charset="-120"/>
                </a:rPr>
                <a:t> </a:t>
              </a:r>
            </a:p>
            <a:p>
              <a:pPr marL="628650" lvl="1" indent="-171450">
                <a:lnSpc>
                  <a:spcPts val="1563"/>
                </a:lnSpc>
                <a:buFont typeface="Wingdings" panose="05000000000000000000" pitchFamily="2" charset="2"/>
                <a:buChar char="Ø"/>
              </a:pPr>
              <a:r>
                <a:rPr lang="ko-KR" altLang="en-US" sz="1100" b="1" dirty="0">
                  <a:solidFill>
                    <a:srgbClr val="384653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Roboto" pitchFamily="34" charset="-120"/>
                </a:rPr>
                <a:t>지역별 설문조사 비교</a:t>
              </a:r>
              <a:r>
                <a:rPr lang="en-US" altLang="ko-KR" sz="1100" b="1" dirty="0">
                  <a:solidFill>
                    <a:srgbClr val="384653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Roboto" pitchFamily="34" charset="-120"/>
                </a:rPr>
                <a:t>,</a:t>
              </a:r>
            </a:p>
            <a:p>
              <a:pPr marL="628650" lvl="1" indent="-171450">
                <a:lnSpc>
                  <a:spcPts val="1563"/>
                </a:lnSpc>
                <a:buFont typeface="Wingdings" panose="05000000000000000000" pitchFamily="2" charset="2"/>
                <a:buChar char="Ø"/>
              </a:pPr>
              <a:r>
                <a:rPr lang="ko-KR" altLang="en-US" sz="1100" b="1" dirty="0">
                  <a:solidFill>
                    <a:srgbClr val="384653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Roboto" pitchFamily="34" charset="-120"/>
                </a:rPr>
                <a:t>위험도 지역순위 일치 여부</a:t>
              </a:r>
              <a:endParaRPr lang="en-US" altLang="ko-KR" sz="1100" b="1" dirty="0">
                <a:solidFill>
                  <a:srgbClr val="38465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Roboto" pitchFamily="34" charset="-120"/>
              </a:endParaRPr>
            </a:p>
          </p:txBody>
        </p:sp>
      </p:grp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9C8BD78-91DA-B98F-4C14-F141487CBA74}"/>
              </a:ext>
            </a:extLst>
          </p:cNvPr>
          <p:cNvCxnSpPr>
            <a:cxnSpLocks/>
          </p:cNvCxnSpPr>
          <p:nvPr/>
        </p:nvCxnSpPr>
        <p:spPr>
          <a:xfrm>
            <a:off x="4555067" y="419529"/>
            <a:ext cx="0" cy="4304442"/>
          </a:xfrm>
          <a:prstGeom prst="line">
            <a:avLst/>
          </a:prstGeom>
          <a:ln>
            <a:solidFill>
              <a:srgbClr val="325F7B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04F743D4-0E5C-EABB-609D-B046A0E19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665342" y="-313556"/>
            <a:ext cx="667196" cy="3336056"/>
          </a:xfrm>
          <a:prstGeom prst="rect">
            <a:avLst/>
          </a:prstGeom>
        </p:spPr>
      </p:pic>
      <p:sp>
        <p:nvSpPr>
          <p:cNvPr id="24" name="Text 0">
            <a:extLst>
              <a:ext uri="{FF2B5EF4-FFF2-40B4-BE49-F238E27FC236}">
                <a16:creationId xmlns:a16="http://schemas.microsoft.com/office/drawing/2014/main" id="{67CDB408-AA5D-B3F4-AB4B-8C28D4CCFA33}"/>
              </a:ext>
            </a:extLst>
          </p:cNvPr>
          <p:cNvSpPr/>
          <p:nvPr/>
        </p:nvSpPr>
        <p:spPr>
          <a:xfrm>
            <a:off x="509852" y="342243"/>
            <a:ext cx="2224556" cy="399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800" dirty="0" err="1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기획</a:t>
            </a:r>
            <a:r>
              <a:rPr lang="ko-KR" altLang="en-US" sz="28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서</a:t>
            </a:r>
            <a:r>
              <a:rPr lang="en-US" altLang="ko-KR" sz="28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 </a:t>
            </a:r>
            <a:r>
              <a:rPr lang="en-US" altLang="ko-KR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- </a:t>
            </a:r>
            <a:r>
              <a:rPr lang="ko-KR" altLang="en-US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개발 목표</a:t>
            </a:r>
            <a:r>
              <a:rPr lang="en-US" altLang="ko-KR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(1)</a:t>
            </a:r>
            <a:endParaRPr lang="en-US" altLang="ko-KR" sz="2800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>
              <a:lnSpc>
                <a:spcPts val="2750"/>
              </a:lnSpc>
            </a:pPr>
            <a:endParaRPr lang="en-US" altLang="ko-KR" sz="2800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Host Grotesk Medium" pitchFamily="34" charset="-120"/>
            </a:endParaRPr>
          </a:p>
        </p:txBody>
      </p:sp>
      <p:sp>
        <p:nvSpPr>
          <p:cNvPr id="32" name="AutoShape 2">
            <a:extLst>
              <a:ext uri="{FF2B5EF4-FFF2-40B4-BE49-F238E27FC236}">
                <a16:creationId xmlns:a16="http://schemas.microsoft.com/office/drawing/2014/main" id="{868A2609-5682-621B-A527-8287792E44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C7E4FBA-358F-F7FF-8B65-0288DC9B2862}"/>
              </a:ext>
            </a:extLst>
          </p:cNvPr>
          <p:cNvGrpSpPr/>
          <p:nvPr/>
        </p:nvGrpSpPr>
        <p:grpSpPr>
          <a:xfrm>
            <a:off x="4847485" y="3760561"/>
            <a:ext cx="4039499" cy="1257303"/>
            <a:chOff x="4981443" y="3714966"/>
            <a:chExt cx="4039499" cy="1257303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1A00B963-0398-CE82-A24C-2AAB62A446A7}"/>
                </a:ext>
              </a:extLst>
            </p:cNvPr>
            <p:cNvSpPr/>
            <p:nvPr/>
          </p:nvSpPr>
          <p:spPr>
            <a:xfrm>
              <a:off x="7124689" y="3714966"/>
              <a:ext cx="1896253" cy="1074471"/>
            </a:xfrm>
            <a:prstGeom prst="roundRect">
              <a:avLst/>
            </a:prstGeom>
            <a:solidFill>
              <a:srgbClr val="C7E0E7"/>
            </a:solidFill>
            <a:ln>
              <a:noFill/>
            </a:ln>
            <a:effectLst>
              <a:softEdge rad="3175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CAF343B-1C68-5541-D2E8-28EEB14D54A4}"/>
                </a:ext>
              </a:extLst>
            </p:cNvPr>
            <p:cNvSpPr txBox="1"/>
            <p:nvPr/>
          </p:nvSpPr>
          <p:spPr>
            <a:xfrm>
              <a:off x="7371681" y="4146865"/>
              <a:ext cx="140226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altLang="ko-KR" sz="1000" b="1" dirty="0">
                  <a:solidFill>
                    <a:srgbClr val="384653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Roboto" pitchFamily="34" charset="-120"/>
                </a:rPr>
                <a:t>??</a:t>
              </a:r>
              <a:r>
                <a:rPr lang="ko-KR" altLang="en-US" sz="1000" b="1" dirty="0">
                  <a:solidFill>
                    <a:srgbClr val="384653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Roboto" pitchFamily="34" charset="-120"/>
                </a:rPr>
                <a:t>부적응 지수</a:t>
              </a:r>
              <a:r>
                <a:rPr lang="en-US" altLang="ko-KR" sz="1000" b="1" dirty="0">
                  <a:solidFill>
                    <a:srgbClr val="384653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Roboto" pitchFamily="34" charset="-120"/>
                </a:rPr>
                <a:t>??</a:t>
              </a:r>
              <a:endParaRPr lang="ko-KR" altLang="en-US" sz="1000" b="1" dirty="0">
                <a:solidFill>
                  <a:srgbClr val="38465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Roboto" pitchFamily="34" charset="-120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00FFC2D-C776-C397-5AE3-72CFAC6845C6}"/>
                </a:ext>
              </a:extLst>
            </p:cNvPr>
            <p:cNvSpPr/>
            <p:nvPr/>
          </p:nvSpPr>
          <p:spPr>
            <a:xfrm>
              <a:off x="4981443" y="3714966"/>
              <a:ext cx="1896253" cy="1257303"/>
            </a:xfrm>
            <a:prstGeom prst="roundRect">
              <a:avLst/>
            </a:prstGeom>
            <a:solidFill>
              <a:srgbClr val="C7E0E7"/>
            </a:solidFill>
            <a:ln>
              <a:noFill/>
            </a:ln>
            <a:effectLst>
              <a:softEdge rad="3175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dirty="0"/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DFEECF0B-2BC6-5D5C-5AAF-E827160A21E0}"/>
                </a:ext>
              </a:extLst>
            </p:cNvPr>
            <p:cNvSpPr/>
            <p:nvPr/>
          </p:nvSpPr>
          <p:spPr>
            <a:xfrm>
              <a:off x="5228435" y="3836748"/>
              <a:ext cx="1402268" cy="6439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14313" indent="-214313">
                <a:lnSpc>
                  <a:spcPts val="1563"/>
                </a:lnSpc>
                <a:buSzPct val="100000"/>
                <a:buChar char="•"/>
              </a:pPr>
              <a:r>
                <a:rPr lang="en-US" sz="1400" b="1" dirty="0">
                  <a:solidFill>
                    <a:srgbClr val="384653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  <a:cs typeface="Roboto" pitchFamily="34" charset="-120"/>
                </a:rPr>
                <a:t>Feature (X)</a:t>
              </a:r>
            </a:p>
            <a:p>
              <a:pPr>
                <a:lnSpc>
                  <a:spcPts val="1563"/>
                </a:lnSpc>
                <a:buSzPct val="100000"/>
              </a:pPr>
              <a:r>
                <a:rPr lang="en-US" sz="1400" b="1" dirty="0">
                  <a:solidFill>
                    <a:srgbClr val="384653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  <a:cs typeface="Roboto" pitchFamily="34" charset="-120"/>
                </a:rPr>
                <a:t> </a:t>
              </a:r>
            </a:p>
            <a:p>
              <a:pPr>
                <a:lnSpc>
                  <a:spcPts val="1563"/>
                </a:lnSpc>
                <a:buSzPct val="100000"/>
              </a:pPr>
              <a:endParaRPr lang="en-US" sz="1400" b="1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endParaRPr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F3901907-0207-F0BE-0A18-65FBDC8A7600}"/>
                </a:ext>
              </a:extLst>
            </p:cNvPr>
            <p:cNvSpPr/>
            <p:nvPr/>
          </p:nvSpPr>
          <p:spPr>
            <a:xfrm>
              <a:off x="7371681" y="3849449"/>
              <a:ext cx="1402268" cy="3233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14313" indent="-214313">
                <a:lnSpc>
                  <a:spcPts val="1563"/>
                </a:lnSpc>
                <a:buSzPct val="100000"/>
                <a:buChar char="•"/>
              </a:pPr>
              <a:r>
                <a:rPr lang="en-US" sz="1400" dirty="0">
                  <a:solidFill>
                    <a:srgbClr val="384653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  <a:cs typeface="Roboto" pitchFamily="34" charset="-120"/>
                </a:rPr>
                <a:t>Target (Y)</a:t>
              </a:r>
            </a:p>
            <a:p>
              <a:pPr marL="214313" indent="-214313">
                <a:lnSpc>
                  <a:spcPts val="1563"/>
                </a:lnSpc>
                <a:buSzPct val="100000"/>
                <a:buChar char="•"/>
              </a:pPr>
              <a:endParaRPr lang="en-US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endParaRPr>
            </a:p>
            <a:p>
              <a:pPr>
                <a:lnSpc>
                  <a:spcPts val="1563"/>
                </a:lnSpc>
                <a:buSzPct val="100000"/>
              </a:pPr>
              <a:r>
                <a:rPr lang="en-US" altLang="ko-KR" sz="1400" dirty="0">
                  <a:solidFill>
                    <a:srgbClr val="384653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  <a:cs typeface="Roboto" pitchFamily="34" charset="-120"/>
                </a:rPr>
                <a:t> </a:t>
              </a:r>
              <a:endParaRPr lang="en-US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BE2057D-C7FC-7BDB-F9A0-6951345C04D8}"/>
                </a:ext>
              </a:extLst>
            </p:cNvPr>
            <p:cNvSpPr txBox="1"/>
            <p:nvPr/>
          </p:nvSpPr>
          <p:spPr>
            <a:xfrm>
              <a:off x="5348980" y="4062168"/>
              <a:ext cx="1402267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b="1" dirty="0">
                  <a:solidFill>
                    <a:srgbClr val="384653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Roboto" pitchFamily="34" charset="-120"/>
                </a:rPr>
                <a:t>다문화 가정 이혼율</a:t>
              </a:r>
              <a:endParaRPr lang="en-US" altLang="ko-KR" sz="1000" b="1" dirty="0">
                <a:solidFill>
                  <a:srgbClr val="38465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Roboto" pitchFamily="34" charset="-120"/>
              </a:endParaRPr>
            </a:p>
            <a:p>
              <a:endParaRPr lang="en-US" altLang="ko-KR" sz="300" b="1" dirty="0">
                <a:solidFill>
                  <a:srgbClr val="38465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Roboto" pitchFamily="34" charset="-120"/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b="1" dirty="0">
                  <a:solidFill>
                    <a:srgbClr val="384653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Roboto" pitchFamily="34" charset="-120"/>
                </a:rPr>
                <a:t>학교 중퇴율</a:t>
              </a:r>
              <a:endParaRPr lang="en-US" altLang="ko-KR" sz="500" b="1" dirty="0">
                <a:solidFill>
                  <a:srgbClr val="38465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Roboto" pitchFamily="34" charset="-120"/>
              </a:endParaRPr>
            </a:p>
            <a:p>
              <a:endParaRPr lang="en-US" altLang="ko-KR" sz="300" b="1" dirty="0">
                <a:solidFill>
                  <a:srgbClr val="38465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Roboto" pitchFamily="34" charset="-120"/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b="1" dirty="0">
                  <a:solidFill>
                    <a:srgbClr val="384653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Roboto" pitchFamily="34" charset="-120"/>
                </a:rPr>
                <a:t>중도 입국</a:t>
              </a:r>
              <a:endParaRPr lang="en-US" altLang="ko-KR" sz="1000" b="1" dirty="0">
                <a:solidFill>
                  <a:srgbClr val="38465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Roboto" pitchFamily="34" charset="-120"/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en-US" altLang="ko-KR" sz="300" b="1" dirty="0">
                <a:solidFill>
                  <a:srgbClr val="38465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Roboto" pitchFamily="34" charset="-120"/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b="1" dirty="0">
                  <a:solidFill>
                    <a:srgbClr val="384653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Roboto" pitchFamily="34" charset="-120"/>
                </a:rPr>
                <a:t>소득 수준</a:t>
              </a:r>
              <a:endParaRPr lang="en-US" altLang="ko-KR" sz="1000" b="1" dirty="0">
                <a:solidFill>
                  <a:srgbClr val="38465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Roboto" pitchFamily="34" charset="-120"/>
              </a:endParaRPr>
            </a:p>
          </p:txBody>
        </p:sp>
      </p:grpSp>
      <p:sp>
        <p:nvSpPr>
          <p:cNvPr id="6" name="Text 1">
            <a:extLst>
              <a:ext uri="{FF2B5EF4-FFF2-40B4-BE49-F238E27FC236}">
                <a16:creationId xmlns:a16="http://schemas.microsoft.com/office/drawing/2014/main" id="{AE936B28-D706-61F6-66F4-F5AD6F5DACEC}"/>
              </a:ext>
            </a:extLst>
          </p:cNvPr>
          <p:cNvSpPr/>
          <p:nvPr/>
        </p:nvSpPr>
        <p:spPr>
          <a:xfrm>
            <a:off x="353922" y="4283879"/>
            <a:ext cx="1791138" cy="208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7AC503A9-FCD5-85F7-B5EC-BAFDB6B82445}"/>
              </a:ext>
            </a:extLst>
          </p:cNvPr>
          <p:cNvSpPr/>
          <p:nvPr/>
        </p:nvSpPr>
        <p:spPr>
          <a:xfrm>
            <a:off x="790018" y="2569282"/>
            <a:ext cx="4162583" cy="2433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다문화 가정의 학교 중퇴율이 높고</a:t>
            </a:r>
            <a:endParaRPr lang="en-US" altLang="ko-KR" sz="1400" dirty="0">
              <a:solidFill>
                <a:srgbClr val="384653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384653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다문화 가정의 이혼율이 높고</a:t>
            </a:r>
            <a:endParaRPr lang="en-US" altLang="ko-KR" sz="1400" dirty="0">
              <a:solidFill>
                <a:srgbClr val="384653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384653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소득 수준이 낮으며</a:t>
            </a:r>
            <a:endParaRPr lang="en-US" altLang="ko-KR" sz="1400" dirty="0">
              <a:solidFill>
                <a:srgbClr val="384653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384653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중도 입국 가정의 비율이 높을수록</a:t>
            </a:r>
            <a:endParaRPr lang="en-US" altLang="ko-KR" sz="1400" dirty="0">
              <a:solidFill>
                <a:srgbClr val="384653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384653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300" dirty="0">
              <a:solidFill>
                <a:srgbClr val="384653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en-US" altLang="ko-KR" sz="13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17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-&gt;??</a:t>
            </a:r>
            <a:r>
              <a:rPr lang="ko-KR" altLang="en-US" sz="17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부적응 지수</a:t>
            </a:r>
            <a:r>
              <a:rPr lang="en-US" altLang="ko-KR" sz="17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??</a:t>
            </a:r>
            <a:r>
              <a:rPr lang="ko-KR" altLang="en-US" sz="17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가 낮을 확률이 높다</a:t>
            </a:r>
            <a:endParaRPr lang="en-US" altLang="ko-KR" sz="1700" dirty="0">
              <a:solidFill>
                <a:srgbClr val="384653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384653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384653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384653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384653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5676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8946-6B11-B49C-A58B-3B5D9F241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18F8BC8-FDB1-B213-911A-6CD3FDA1F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811462" y="-313282"/>
            <a:ext cx="667196" cy="333605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29C2D27-6C96-E691-B590-4C69923B50B9}"/>
              </a:ext>
            </a:extLst>
          </p:cNvPr>
          <p:cNvSpPr/>
          <p:nvPr/>
        </p:nvSpPr>
        <p:spPr>
          <a:xfrm>
            <a:off x="509852" y="2080435"/>
            <a:ext cx="809135" cy="208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1625"/>
              </a:lnSpc>
              <a:buFont typeface="Wingdings" panose="05000000000000000000" pitchFamily="2" charset="2"/>
              <a:buChar char="ü"/>
            </a:pPr>
            <a:r>
              <a:rPr lang="ko-KR" altLang="en-US" sz="20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예측 결과 내용</a:t>
            </a:r>
            <a:endParaRPr lang="en-US" sz="2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4CAB8F3-ABE8-5028-05C4-5739764FB18D}"/>
              </a:ext>
            </a:extLst>
          </p:cNvPr>
          <p:cNvSpPr/>
          <p:nvPr/>
        </p:nvSpPr>
        <p:spPr>
          <a:xfrm>
            <a:off x="914419" y="3149754"/>
            <a:ext cx="3570412" cy="52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563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rPr>
              <a:t>국적에 따른 적응 차이</a:t>
            </a:r>
            <a:endParaRPr lang="en-US" altLang="ko-KR" sz="1400" dirty="0">
              <a:solidFill>
                <a:srgbClr val="384653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E00D81B-44CD-3789-0781-080EA1E71127}"/>
              </a:ext>
            </a:extLst>
          </p:cNvPr>
          <p:cNvSpPr/>
          <p:nvPr/>
        </p:nvSpPr>
        <p:spPr>
          <a:xfrm>
            <a:off x="5330912" y="2080435"/>
            <a:ext cx="710214" cy="208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1625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UI </a:t>
            </a:r>
            <a:r>
              <a:rPr lang="ko-KR" altLang="en-US" sz="20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시각화</a:t>
            </a:r>
            <a:endParaRPr lang="en-US" sz="2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97DE851-20B7-4B57-A0E0-E358BE03DA46}"/>
              </a:ext>
            </a:extLst>
          </p:cNvPr>
          <p:cNvCxnSpPr>
            <a:cxnSpLocks/>
          </p:cNvCxnSpPr>
          <p:nvPr/>
        </p:nvCxnSpPr>
        <p:spPr>
          <a:xfrm>
            <a:off x="4555067" y="419529"/>
            <a:ext cx="0" cy="4304442"/>
          </a:xfrm>
          <a:prstGeom prst="line">
            <a:avLst/>
          </a:prstGeom>
          <a:ln>
            <a:solidFill>
              <a:srgbClr val="325F7B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6F791DBF-FA3A-F07B-078C-4ACAA9D03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665342" y="-313556"/>
            <a:ext cx="667196" cy="3336056"/>
          </a:xfrm>
          <a:prstGeom prst="rect">
            <a:avLst/>
          </a:prstGeom>
        </p:spPr>
      </p:pic>
      <p:sp>
        <p:nvSpPr>
          <p:cNvPr id="24" name="Text 0">
            <a:extLst>
              <a:ext uri="{FF2B5EF4-FFF2-40B4-BE49-F238E27FC236}">
                <a16:creationId xmlns:a16="http://schemas.microsoft.com/office/drawing/2014/main" id="{1646DD22-3BB1-286B-2A69-E8F4D13357A1}"/>
              </a:ext>
            </a:extLst>
          </p:cNvPr>
          <p:cNvSpPr/>
          <p:nvPr/>
        </p:nvSpPr>
        <p:spPr>
          <a:xfrm>
            <a:off x="509852" y="342243"/>
            <a:ext cx="2224556" cy="399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800" dirty="0" err="1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기획</a:t>
            </a:r>
            <a:r>
              <a:rPr lang="ko-KR" altLang="en-US" sz="28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서</a:t>
            </a:r>
            <a:r>
              <a:rPr lang="en-US" altLang="ko-KR" sz="28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 </a:t>
            </a:r>
            <a:r>
              <a:rPr lang="en-US" altLang="ko-KR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- </a:t>
            </a:r>
            <a:r>
              <a:rPr lang="ko-KR" altLang="en-US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개발 목표</a:t>
            </a:r>
            <a:r>
              <a:rPr lang="en-US" altLang="ko-KR" sz="1400" dirty="0">
                <a:solidFill>
                  <a:srgbClr val="53697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(2)</a:t>
            </a:r>
            <a:endParaRPr lang="en-US" altLang="ko-KR" sz="2800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>
              <a:lnSpc>
                <a:spcPts val="2750"/>
              </a:lnSpc>
            </a:pPr>
            <a:endParaRPr lang="en-US" altLang="ko-KR" sz="2800" dirty="0">
              <a:solidFill>
                <a:srgbClr val="536977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Host Grotesk Medium" pitchFamily="34" charset="-12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AA4A20-5A28-2379-AEA8-7870B8FF6D49}"/>
              </a:ext>
            </a:extLst>
          </p:cNvPr>
          <p:cNvSpPr txBox="1"/>
          <p:nvPr/>
        </p:nvSpPr>
        <p:spPr>
          <a:xfrm>
            <a:off x="976580" y="3462485"/>
            <a:ext cx="29858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rgbClr val="38465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Roboto" pitchFamily="34" charset="-120"/>
              </a:rPr>
              <a:t>베트남</a:t>
            </a:r>
            <a:r>
              <a:rPr lang="en-US" altLang="ko-KR" sz="1100" dirty="0">
                <a:solidFill>
                  <a:srgbClr val="38465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Roboto" pitchFamily="34" charset="-120"/>
              </a:rPr>
              <a:t>, </a:t>
            </a:r>
            <a:r>
              <a:rPr lang="ko-KR" altLang="en-US" sz="1100" dirty="0">
                <a:solidFill>
                  <a:srgbClr val="38465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Roboto" pitchFamily="34" charset="-120"/>
              </a:rPr>
              <a:t>미국</a:t>
            </a:r>
            <a:r>
              <a:rPr lang="en-US" altLang="ko-KR" sz="1100" dirty="0">
                <a:solidFill>
                  <a:srgbClr val="38465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Roboto" pitchFamily="34" charset="-120"/>
              </a:rPr>
              <a:t>, </a:t>
            </a:r>
            <a:r>
              <a:rPr lang="ko-KR" altLang="en-US" sz="1100" dirty="0">
                <a:solidFill>
                  <a:srgbClr val="38465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Roboto" pitchFamily="34" charset="-120"/>
              </a:rPr>
              <a:t>러시아 등 국적별 다문화가정의 적응도 차이 확인</a:t>
            </a:r>
            <a:endParaRPr lang="en-US" altLang="ko-KR" sz="1100" dirty="0">
              <a:solidFill>
                <a:srgbClr val="384653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Roboto" pitchFamily="34" charset="-120"/>
            </a:endParaRP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9AAE6822-EBEB-D824-3A67-071DACC81B09}"/>
              </a:ext>
            </a:extLst>
          </p:cNvPr>
          <p:cNvSpPr/>
          <p:nvPr/>
        </p:nvSpPr>
        <p:spPr>
          <a:xfrm>
            <a:off x="861715" y="4071473"/>
            <a:ext cx="3693347" cy="400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563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rPr>
              <a:t>지역별 문제 비교 및 해결방안 제시</a:t>
            </a:r>
            <a:endParaRPr lang="en-US" sz="103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4C2DE2-778A-41DA-27CC-6DD5C2AFB1D1}"/>
              </a:ext>
            </a:extLst>
          </p:cNvPr>
          <p:cNvSpPr txBox="1"/>
          <p:nvPr/>
        </p:nvSpPr>
        <p:spPr>
          <a:xfrm>
            <a:off x="981577" y="4523499"/>
            <a:ext cx="26773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100" dirty="0"/>
          </a:p>
          <a:p>
            <a:endParaRPr lang="ko-KR" altLang="en-US" sz="1100" dirty="0"/>
          </a:p>
          <a:p>
            <a:endParaRPr lang="ko-KR" altLang="en-US" sz="11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FC5364FC-1D7A-6E5C-00B8-CE4297BCFC09}"/>
              </a:ext>
            </a:extLst>
          </p:cNvPr>
          <p:cNvSpPr/>
          <p:nvPr/>
        </p:nvSpPr>
        <p:spPr>
          <a:xfrm>
            <a:off x="5687716" y="3414636"/>
            <a:ext cx="3570412" cy="400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563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무엇을</a:t>
            </a:r>
            <a:endParaRPr lang="en-US" altLang="ko-KR" sz="1400" dirty="0">
              <a:solidFill>
                <a:srgbClr val="384653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BC29CE-5812-D261-8F9D-C06A6C0BA71E}"/>
              </a:ext>
            </a:extLst>
          </p:cNvPr>
          <p:cNvSpPr txBox="1"/>
          <p:nvPr/>
        </p:nvSpPr>
        <p:spPr>
          <a:xfrm>
            <a:off x="5807577" y="3705274"/>
            <a:ext cx="285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65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Roboto" pitchFamily="34" charset="-120"/>
              </a:rPr>
              <a:t>시각화</a:t>
            </a:r>
            <a:endParaRPr lang="en-US" altLang="ko-KR" sz="1100" dirty="0">
              <a:solidFill>
                <a:srgbClr val="384653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Roboto" pitchFamily="34" charset="-120"/>
            </a:endParaRPr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A87C578B-7B60-5571-BB6A-D84A0AC0DB48}"/>
              </a:ext>
            </a:extLst>
          </p:cNvPr>
          <p:cNvSpPr/>
          <p:nvPr/>
        </p:nvSpPr>
        <p:spPr>
          <a:xfrm>
            <a:off x="5686019" y="2547088"/>
            <a:ext cx="3570412" cy="400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563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뭘</a:t>
            </a:r>
            <a:endParaRPr lang="en-US" altLang="ko-KR" sz="1400" b="1" dirty="0">
              <a:solidFill>
                <a:srgbClr val="384653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DFD8BC-CC29-7C22-74E6-14142FD4B519}"/>
              </a:ext>
            </a:extLst>
          </p:cNvPr>
          <p:cNvSpPr txBox="1"/>
          <p:nvPr/>
        </p:nvSpPr>
        <p:spPr>
          <a:xfrm>
            <a:off x="5807577" y="2837727"/>
            <a:ext cx="29808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65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Roboto" pitchFamily="34" charset="-120"/>
              </a:rPr>
              <a:t>시각화</a:t>
            </a:r>
            <a:endParaRPr lang="en-US" altLang="ko-KR" sz="1100" dirty="0">
              <a:solidFill>
                <a:srgbClr val="384653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Roboto" pitchFamily="34" charset="-120"/>
            </a:endParaRP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806F68E5-ED23-6B13-5FBD-2C3223F13445}"/>
              </a:ext>
            </a:extLst>
          </p:cNvPr>
          <p:cNvSpPr/>
          <p:nvPr/>
        </p:nvSpPr>
        <p:spPr>
          <a:xfrm>
            <a:off x="5687716" y="4232861"/>
            <a:ext cx="3570412" cy="400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563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시각화</a:t>
            </a:r>
            <a:endParaRPr lang="en-US" altLang="ko-KR" sz="1400" dirty="0">
              <a:solidFill>
                <a:srgbClr val="384653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59DC64-C794-4A5A-6CFE-3878BC149E67}"/>
              </a:ext>
            </a:extLst>
          </p:cNvPr>
          <p:cNvSpPr txBox="1"/>
          <p:nvPr/>
        </p:nvSpPr>
        <p:spPr>
          <a:xfrm>
            <a:off x="5807577" y="4523499"/>
            <a:ext cx="285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65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Roboto" pitchFamily="34" charset="-120"/>
              </a:rPr>
              <a:t>시각화</a:t>
            </a:r>
            <a:endParaRPr lang="en-US" altLang="ko-KR" sz="1100" dirty="0">
              <a:solidFill>
                <a:srgbClr val="384653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Roboto" pitchFamily="34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EC2FB0-465D-0AE5-D3CC-6ECADA7BD355}"/>
              </a:ext>
            </a:extLst>
          </p:cNvPr>
          <p:cNvSpPr txBox="1"/>
          <p:nvPr/>
        </p:nvSpPr>
        <p:spPr>
          <a:xfrm>
            <a:off x="914419" y="4349691"/>
            <a:ext cx="29178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rgbClr val="38465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Roboto" pitchFamily="34" charset="-120"/>
              </a:rPr>
              <a:t>다문화가정의 문제 발생 비율이 높은 지역과 예측 결과를 비교</a:t>
            </a:r>
            <a:endParaRPr lang="en-US" altLang="ko-KR" sz="1100" dirty="0">
              <a:solidFill>
                <a:srgbClr val="384653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Roboto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rgbClr val="38465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Roboto" pitchFamily="34" charset="-120"/>
              </a:rPr>
              <a:t>지역별 특성에 맞게 해결방안을 제시</a:t>
            </a:r>
            <a:endParaRPr lang="ko-KR" altLang="en-US" sz="11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162DD41E-ADD9-E305-14A1-87B38B8DF74F}"/>
              </a:ext>
            </a:extLst>
          </p:cNvPr>
          <p:cNvSpPr/>
          <p:nvPr/>
        </p:nvSpPr>
        <p:spPr>
          <a:xfrm>
            <a:off x="861715" y="2482410"/>
            <a:ext cx="3570412" cy="576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563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rPr>
              <a:t>다문화자녀의 적응 정도</a:t>
            </a:r>
            <a:endParaRPr lang="en-US" alt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FBD7DC-F35F-298E-D632-3DEF2E5347FD}"/>
              </a:ext>
            </a:extLst>
          </p:cNvPr>
          <p:cNvSpPr txBox="1"/>
          <p:nvPr/>
        </p:nvSpPr>
        <p:spPr>
          <a:xfrm>
            <a:off x="981576" y="2770864"/>
            <a:ext cx="29152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rgbClr val="38465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Roboto" pitchFamily="34" charset="-120"/>
              </a:rPr>
              <a:t>일상생활에서의 적응 정도 예측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784824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0311C-1E1C-ED7B-D5B6-A3B2740C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">
            <a:extLst>
              <a:ext uri="{FF2B5EF4-FFF2-40B4-BE49-F238E27FC236}">
                <a16:creationId xmlns:a16="http://schemas.microsoft.com/office/drawing/2014/main" id="{12C5EA52-8AA2-2731-ADCF-655B4183D6FA}"/>
              </a:ext>
            </a:extLst>
          </p:cNvPr>
          <p:cNvSpPr/>
          <p:nvPr/>
        </p:nvSpPr>
        <p:spPr>
          <a:xfrm>
            <a:off x="496119" y="3824012"/>
            <a:ext cx="4389148" cy="787735"/>
          </a:xfrm>
          <a:prstGeom prst="roundRect">
            <a:avLst>
              <a:gd name="adj" fmla="val 3055"/>
            </a:avLst>
          </a:prstGeom>
          <a:solidFill>
            <a:srgbClr val="D9EDF2"/>
          </a:solidFill>
          <a:ln w="7620">
            <a:solidFill>
              <a:srgbClr val="C7E0E7"/>
            </a:solidFill>
            <a:prstDash val="solid"/>
          </a:ln>
        </p:spPr>
        <p:txBody>
          <a:bodyPr/>
          <a:lstStyle/>
          <a:p>
            <a:endParaRPr lang="ko-KR" altLang="en-US" sz="875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A1419F7A-B1B0-C27C-855C-AA7BFED58298}"/>
              </a:ext>
            </a:extLst>
          </p:cNvPr>
          <p:cNvSpPr/>
          <p:nvPr/>
        </p:nvSpPr>
        <p:spPr>
          <a:xfrm>
            <a:off x="496119" y="2384041"/>
            <a:ext cx="5633748" cy="1008385"/>
          </a:xfrm>
          <a:prstGeom prst="roundRect">
            <a:avLst>
              <a:gd name="adj" fmla="val 3055"/>
            </a:avLst>
          </a:prstGeom>
          <a:solidFill>
            <a:srgbClr val="D9EDF2"/>
          </a:solidFill>
          <a:ln w="7620">
            <a:solidFill>
              <a:srgbClr val="C7E0E7"/>
            </a:solidFill>
            <a:prstDash val="solid"/>
          </a:ln>
        </p:spPr>
        <p:txBody>
          <a:bodyPr/>
          <a:lstStyle/>
          <a:p>
            <a:endParaRPr lang="ko-KR" altLang="en-US" sz="875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F841EABA-F2CA-FEA1-78AD-16724B730993}"/>
              </a:ext>
            </a:extLst>
          </p:cNvPr>
          <p:cNvSpPr/>
          <p:nvPr/>
        </p:nvSpPr>
        <p:spPr>
          <a:xfrm>
            <a:off x="6168050" y="0"/>
            <a:ext cx="2972023" cy="5150588"/>
          </a:xfrm>
          <a:custGeom>
            <a:avLst/>
            <a:gdLst>
              <a:gd name="connsiteX0" fmla="*/ 0 w 3600450"/>
              <a:gd name="connsiteY0" fmla="*/ 0 h 5143500"/>
              <a:gd name="connsiteX1" fmla="*/ 3600450 w 3600450"/>
              <a:gd name="connsiteY1" fmla="*/ 0 h 5143500"/>
              <a:gd name="connsiteX2" fmla="*/ 3600450 w 3600450"/>
              <a:gd name="connsiteY2" fmla="*/ 5143500 h 5143500"/>
              <a:gd name="connsiteX3" fmla="*/ 0 w 3600450"/>
              <a:gd name="connsiteY3" fmla="*/ 5143500 h 5143500"/>
              <a:gd name="connsiteX4" fmla="*/ 0 w 3600450"/>
              <a:gd name="connsiteY4" fmla="*/ 0 h 5143500"/>
              <a:gd name="connsiteX0" fmla="*/ 1254642 w 3600450"/>
              <a:gd name="connsiteY0" fmla="*/ 0 h 5150588"/>
              <a:gd name="connsiteX1" fmla="*/ 3600450 w 3600450"/>
              <a:gd name="connsiteY1" fmla="*/ 7088 h 5150588"/>
              <a:gd name="connsiteX2" fmla="*/ 3600450 w 3600450"/>
              <a:gd name="connsiteY2" fmla="*/ 5150588 h 5150588"/>
              <a:gd name="connsiteX3" fmla="*/ 0 w 3600450"/>
              <a:gd name="connsiteY3" fmla="*/ 5150588 h 5150588"/>
              <a:gd name="connsiteX4" fmla="*/ 1254642 w 3600450"/>
              <a:gd name="connsiteY4" fmla="*/ 0 h 515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00450" h="5150588">
                <a:moveTo>
                  <a:pt x="1254642" y="0"/>
                </a:moveTo>
                <a:lnTo>
                  <a:pt x="3600450" y="7088"/>
                </a:lnTo>
                <a:lnTo>
                  <a:pt x="3600450" y="5150588"/>
                </a:lnTo>
                <a:lnTo>
                  <a:pt x="0" y="5150588"/>
                </a:lnTo>
                <a:lnTo>
                  <a:pt x="1254642" y="0"/>
                </a:lnTo>
                <a:close/>
              </a:path>
            </a:pathLst>
          </a:custGeom>
          <a:solidFill>
            <a:srgbClr val="C7E0E7"/>
          </a:solidFill>
          <a:ln/>
        </p:spPr>
        <p:txBody>
          <a:bodyPr/>
          <a:lstStyle/>
          <a:p>
            <a:endParaRPr lang="ko-KR" altLang="en-US" sz="875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A03EAD-A548-4924-19B6-840AA4CFFB81}"/>
              </a:ext>
            </a:extLst>
          </p:cNvPr>
          <p:cNvSpPr/>
          <p:nvPr/>
        </p:nvSpPr>
        <p:spPr>
          <a:xfrm>
            <a:off x="496119" y="458837"/>
            <a:ext cx="3189759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25"/>
              </a:lnSpc>
            </a:pPr>
            <a:r>
              <a:rPr lang="en-US" sz="2500" dirty="0">
                <a:solidFill>
                  <a:srgbClr val="2E3C4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업무 분장</a:t>
            </a:r>
            <a:endParaRPr lang="en-US" sz="25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C1B9E2-0D6E-7EF8-DCAE-2FA1A581AAB9}"/>
              </a:ext>
            </a:extLst>
          </p:cNvPr>
          <p:cNvSpPr/>
          <p:nvPr/>
        </p:nvSpPr>
        <p:spPr>
          <a:xfrm>
            <a:off x="496119" y="1051653"/>
            <a:ext cx="5633748" cy="1008385"/>
          </a:xfrm>
          <a:prstGeom prst="roundRect">
            <a:avLst>
              <a:gd name="adj" fmla="val 3055"/>
            </a:avLst>
          </a:prstGeom>
          <a:solidFill>
            <a:srgbClr val="D9EDF2"/>
          </a:solidFill>
          <a:ln w="7620">
            <a:solidFill>
              <a:srgbClr val="C7E0E7"/>
            </a:solidFill>
            <a:prstDash val="solid"/>
          </a:ln>
          <a:effectLst/>
        </p:spPr>
        <p:txBody>
          <a:bodyPr/>
          <a:lstStyle/>
          <a:p>
            <a:endParaRPr lang="ko-KR" altLang="en-US" sz="875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AA10A9D-EF97-A8DB-5882-6DD80F97B470}"/>
              </a:ext>
            </a:extLst>
          </p:cNvPr>
          <p:cNvSpPr/>
          <p:nvPr/>
        </p:nvSpPr>
        <p:spPr>
          <a:xfrm>
            <a:off x="628427" y="1181175"/>
            <a:ext cx="382711" cy="382711"/>
          </a:xfrm>
          <a:prstGeom prst="roundRect">
            <a:avLst>
              <a:gd name="adj" fmla="val 14931436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ko-KR" altLang="en-US" sz="875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BBA7D9C7-D424-39C6-A353-D2D5A27C79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649" y="1286396"/>
            <a:ext cx="172194" cy="172194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67025E1D-F766-4A12-6427-2128C5EFC58D}"/>
              </a:ext>
            </a:extLst>
          </p:cNvPr>
          <p:cNvSpPr/>
          <p:nvPr/>
        </p:nvSpPr>
        <p:spPr>
          <a:xfrm>
            <a:off x="1116360" y="1286396"/>
            <a:ext cx="1913855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김진혁</a:t>
            </a:r>
            <a:endParaRPr lang="en-US" sz="15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4B2DECF-870E-778E-2C33-B1819595D64F}"/>
              </a:ext>
            </a:extLst>
          </p:cNvPr>
          <p:cNvSpPr/>
          <p:nvPr/>
        </p:nvSpPr>
        <p:spPr>
          <a:xfrm>
            <a:off x="624470" y="2521594"/>
            <a:ext cx="382711" cy="382711"/>
          </a:xfrm>
          <a:prstGeom prst="roundRect">
            <a:avLst>
              <a:gd name="adj" fmla="val 14931436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ko-KR" altLang="en-US" sz="875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21749919-119D-AD7C-32E6-B131E88AE8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692" y="2626817"/>
            <a:ext cx="172194" cy="172194"/>
          </a:xfrm>
          <a:prstGeom prst="rect">
            <a:avLst/>
          </a:prstGeom>
        </p:spPr>
      </p:pic>
      <p:sp>
        <p:nvSpPr>
          <p:cNvPr id="13" name="Text 10">
            <a:extLst>
              <a:ext uri="{FF2B5EF4-FFF2-40B4-BE49-F238E27FC236}">
                <a16:creationId xmlns:a16="http://schemas.microsoft.com/office/drawing/2014/main" id="{A00BC522-FB42-EC62-9D14-40B1FD74173B}"/>
              </a:ext>
            </a:extLst>
          </p:cNvPr>
          <p:cNvSpPr/>
          <p:nvPr/>
        </p:nvSpPr>
        <p:spPr>
          <a:xfrm>
            <a:off x="1114978" y="2626817"/>
            <a:ext cx="1913855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ost Grotesk Medium" pitchFamily="34" charset="-120"/>
              </a:rPr>
              <a:t>김세준</a:t>
            </a:r>
            <a:endParaRPr lang="en-US" sz="15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BBD4922C-2A3B-38C1-D274-FD1CC431A63B}"/>
              </a:ext>
            </a:extLst>
          </p:cNvPr>
          <p:cNvSpPr/>
          <p:nvPr/>
        </p:nvSpPr>
        <p:spPr>
          <a:xfrm>
            <a:off x="1114978" y="4280834"/>
            <a:ext cx="1789089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500"/>
              </a:lnSpc>
              <a:buSzPct val="100000"/>
              <a:buChar char="•"/>
            </a:pPr>
            <a:r>
              <a:rPr lang="en-US" sz="1400" dirty="0" err="1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rPr>
              <a:t>데이터</a:t>
            </a:r>
            <a:r>
              <a:rPr lang="en-US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rPr>
              <a:t> </a:t>
            </a:r>
            <a:r>
              <a:rPr lang="ko-KR" altLang="en-US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rPr>
              <a:t>수집 및 </a:t>
            </a:r>
            <a:r>
              <a:rPr lang="ko-KR" altLang="en-US" sz="1400" dirty="0" err="1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rPr>
              <a:t>전처리</a:t>
            </a:r>
            <a:endParaRPr lang="en-US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61D231C4-31C2-3486-D0B7-01EFC2327EDF}"/>
              </a:ext>
            </a:extLst>
          </p:cNvPr>
          <p:cNvSpPr/>
          <p:nvPr/>
        </p:nvSpPr>
        <p:spPr>
          <a:xfrm>
            <a:off x="766359" y="3986610"/>
            <a:ext cx="98860" cy="98860"/>
          </a:xfrm>
          <a:prstGeom prst="roundRect">
            <a:avLst>
              <a:gd name="adj" fmla="val 14931436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ko-KR" altLang="en-US" sz="875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391E336-20A8-F73E-517A-834753E7C3B6}"/>
              </a:ext>
            </a:extLst>
          </p:cNvPr>
          <p:cNvSpPr/>
          <p:nvPr/>
        </p:nvSpPr>
        <p:spPr>
          <a:xfrm>
            <a:off x="1114978" y="3916420"/>
            <a:ext cx="1913855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ko-KR" altLang="en-US" sz="15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공통</a:t>
            </a:r>
            <a:endParaRPr lang="en-US" sz="15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19FA1623-CDF6-66D0-A3EB-93B205DCEC8D}"/>
              </a:ext>
            </a:extLst>
          </p:cNvPr>
          <p:cNvSpPr/>
          <p:nvPr/>
        </p:nvSpPr>
        <p:spPr>
          <a:xfrm>
            <a:off x="3583095" y="4280834"/>
            <a:ext cx="1789089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500"/>
              </a:lnSpc>
              <a:buSzPct val="100000"/>
              <a:buChar char="•"/>
            </a:pPr>
            <a:r>
              <a:rPr lang="ko-KR" altLang="en-US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rPr>
              <a:t>머신 러닝</a:t>
            </a:r>
            <a:endParaRPr lang="en-US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B8F63194-C8AF-6A1E-70C1-9A8C36CAA769}"/>
              </a:ext>
            </a:extLst>
          </p:cNvPr>
          <p:cNvSpPr/>
          <p:nvPr/>
        </p:nvSpPr>
        <p:spPr>
          <a:xfrm>
            <a:off x="2090998" y="1229362"/>
            <a:ext cx="1854469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500"/>
              </a:lnSpc>
              <a:buSzPct val="100000"/>
              <a:buChar char="•"/>
            </a:pPr>
            <a:r>
              <a:rPr lang="ko-KR" altLang="en-US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rPr>
              <a:t>다문화가정 수 예측</a:t>
            </a:r>
            <a:endParaRPr lang="en-US" sz="1400" dirty="0">
              <a:solidFill>
                <a:srgbClr val="384653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E341A0EC-30BF-9E2A-F8BE-025B63E2CB39}"/>
              </a:ext>
            </a:extLst>
          </p:cNvPr>
          <p:cNvSpPr/>
          <p:nvPr/>
        </p:nvSpPr>
        <p:spPr>
          <a:xfrm>
            <a:off x="4110075" y="1230999"/>
            <a:ext cx="1735935" cy="278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500"/>
              </a:lnSpc>
              <a:buSzPct val="100000"/>
              <a:buChar char="•"/>
            </a:pPr>
            <a:r>
              <a:rPr lang="en-US" altLang="ko-KR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UI </a:t>
            </a:r>
            <a:r>
              <a:rPr lang="ko-KR" altLang="en-US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로고 및 디자인</a:t>
            </a:r>
            <a:endParaRPr lang="en-US" altLang="ko-KR" sz="1400" dirty="0">
              <a:solidFill>
                <a:srgbClr val="384653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5B81831F-ED16-FFFE-FDFD-5DA41862A7ED}"/>
              </a:ext>
            </a:extLst>
          </p:cNvPr>
          <p:cNvSpPr/>
          <p:nvPr/>
        </p:nvSpPr>
        <p:spPr>
          <a:xfrm>
            <a:off x="4110074" y="1646506"/>
            <a:ext cx="1735935" cy="278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500"/>
              </a:lnSpc>
              <a:buSzPct val="100000"/>
              <a:buChar char="•"/>
            </a:pPr>
            <a:r>
              <a:rPr lang="en-US" altLang="ko-KR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rPr>
              <a:t>UI</a:t>
            </a:r>
            <a:r>
              <a:rPr lang="ko-KR" altLang="en-US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rPr>
              <a:t> 예측 화면 개발</a:t>
            </a:r>
            <a:endParaRPr lang="en-US" alt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6B4D92F4-9D72-4F3C-747A-BADCEA86F25C}"/>
              </a:ext>
            </a:extLst>
          </p:cNvPr>
          <p:cNvSpPr/>
          <p:nvPr/>
        </p:nvSpPr>
        <p:spPr>
          <a:xfrm>
            <a:off x="2090998" y="2966442"/>
            <a:ext cx="1735935" cy="278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500"/>
              </a:lnSpc>
              <a:buSzPct val="100000"/>
              <a:buChar char="•"/>
            </a:pPr>
            <a:r>
              <a:rPr lang="en-US" altLang="ko-KR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rPr>
              <a:t>Flask</a:t>
            </a:r>
            <a:r>
              <a:rPr lang="ko-KR" altLang="en-US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rPr>
              <a:t> 연동 및 구성</a:t>
            </a:r>
            <a:endParaRPr lang="en-US" alt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B4B08F1A-821E-F42E-ECA9-F428BAE895B2}"/>
              </a:ext>
            </a:extLst>
          </p:cNvPr>
          <p:cNvSpPr/>
          <p:nvPr/>
        </p:nvSpPr>
        <p:spPr>
          <a:xfrm>
            <a:off x="2090998" y="2626817"/>
            <a:ext cx="1854469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500"/>
              </a:lnSpc>
              <a:buSzPct val="100000"/>
              <a:buChar char="•"/>
            </a:pPr>
            <a:r>
              <a:rPr lang="ko-KR" altLang="en-US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rPr>
              <a:t>다문화자녀 수 예측</a:t>
            </a:r>
            <a:endParaRPr lang="en-US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E8C75FAE-2B17-92DB-E3A4-36587A700728}"/>
              </a:ext>
            </a:extLst>
          </p:cNvPr>
          <p:cNvSpPr/>
          <p:nvPr/>
        </p:nvSpPr>
        <p:spPr>
          <a:xfrm>
            <a:off x="4110075" y="2628454"/>
            <a:ext cx="1735935" cy="278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500"/>
              </a:lnSpc>
              <a:buSzPct val="100000"/>
              <a:buChar char="•"/>
            </a:pPr>
            <a:r>
              <a:rPr lang="en-US" altLang="ko-KR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rPr>
              <a:t>UI</a:t>
            </a:r>
            <a:r>
              <a:rPr lang="ko-KR" altLang="en-US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rPr>
              <a:t> 데이터 시각화 </a:t>
            </a:r>
            <a:endParaRPr lang="en-US" alt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1CDF249F-61F2-4BD4-79E2-ABF1F5B576AA}"/>
              </a:ext>
            </a:extLst>
          </p:cNvPr>
          <p:cNvSpPr/>
          <p:nvPr/>
        </p:nvSpPr>
        <p:spPr>
          <a:xfrm>
            <a:off x="4110074" y="2966442"/>
            <a:ext cx="1735935" cy="278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500"/>
              </a:lnSpc>
              <a:buSzPct val="100000"/>
              <a:buChar char="•"/>
            </a:pPr>
            <a:r>
              <a:rPr lang="en-US" altLang="ko-KR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rPr>
              <a:t>UI </a:t>
            </a:r>
            <a:r>
              <a:rPr lang="ko-KR" altLang="en-US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rPr>
              <a:t>레이아웃</a:t>
            </a:r>
            <a:endParaRPr lang="en-US" alt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8B301D28-CA34-B38A-BADD-7C04D7B7B469}"/>
              </a:ext>
            </a:extLst>
          </p:cNvPr>
          <p:cNvSpPr/>
          <p:nvPr/>
        </p:nvSpPr>
        <p:spPr>
          <a:xfrm>
            <a:off x="2099000" y="1650810"/>
            <a:ext cx="1854469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500"/>
              </a:lnSpc>
              <a:buSzPct val="100000"/>
              <a:buChar char="•"/>
            </a:pPr>
            <a:r>
              <a:rPr lang="en-US" altLang="ko-KR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rPr>
              <a:t>PPT </a:t>
            </a:r>
            <a:r>
              <a:rPr lang="ko-KR" altLang="en-US" sz="1400" dirty="0">
                <a:solidFill>
                  <a:srgbClr val="38465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" pitchFamily="34" charset="-120"/>
              </a:rPr>
              <a:t>제작</a:t>
            </a:r>
            <a:endParaRPr lang="en-US" alt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2348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1836</TotalTime>
  <Words>386</Words>
  <Application>Microsoft Office PowerPoint</Application>
  <PresentationFormat>화면 슬라이드 쇼(16:9)</PresentationFormat>
  <Paragraphs>99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Noto Sans KR Medium</vt:lpstr>
      <vt:lpstr>맑은 고딕</vt:lpstr>
      <vt:lpstr>Noto Sans KR Black</vt:lpstr>
      <vt:lpstr>Wingdings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김진혁</dc:creator>
  <cp:lastModifiedBy>진혁 김</cp:lastModifiedBy>
  <cp:revision>54</cp:revision>
  <dcterms:modified xsi:type="dcterms:W3CDTF">2025-11-05T09:22:50Z</dcterms:modified>
</cp:coreProperties>
</file>